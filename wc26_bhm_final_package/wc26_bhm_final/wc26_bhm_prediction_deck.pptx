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800">
                <a:solidFill>
                  <a:srgbClr val="F8FAFC"/>
                </a:solidFill>
              </a:defRPr>
            </a:pPr>
            <a:r>
              <a:t>WC26 Bayesian Hierarchical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874519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6F4D4"/>
                </a:solidFill>
              </a:defRPr>
            </a:pPr>
            <a:r>
              <a:t>PyMC BHM + 100,000 posterior Monte Carlo tournaments + dashboard-ready outputs</a:t>
            </a:r>
          </a:p>
        </p:txBody>
      </p:sp>
      <p:pic>
        <p:nvPicPr>
          <p:cNvPr id="4" name="Picture 3" descr="champion_proba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5486400" cy="3491345"/>
          </a:xfrm>
          <a:prstGeom prst="rect">
            <a:avLst/>
          </a:prstGeom>
        </p:spPr>
      </p:pic>
      <p:pic>
        <p:nvPicPr>
          <p:cNvPr id="5" name="Picture 4" descr="dashboar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44E3B"/>
                </a:solidFill>
              </a:defRPr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No hand-picked champion; predictions come from posterior simulation.</a:t>
            </a:r>
          </a:p>
        </p:txBody>
      </p:sp>
      <p:pic>
        <p:nvPicPr>
          <p:cNvPr id="4" name="Picture 3" descr="posterior_strength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4864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430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PyMC Bayesian hierarchical model</a:t>
            </a:r>
          </a:p>
          <a:p>
            <a:pPr>
              <a:defRPr sz="1500">
                <a:solidFill>
                  <a:srgbClr val="111827"/>
                </a:solidFill>
              </a:defRPr>
            </a:pPr>
            <a:r>
              <a:t>Current-strength prior + WC history</a:t>
            </a:r>
          </a:p>
          <a:p>
            <a:pPr>
              <a:defRPr sz="1500">
                <a:solidFill>
                  <a:srgbClr val="111827"/>
                </a:solidFill>
              </a:defRPr>
            </a:pPr>
            <a:r>
              <a:t>Live results locked before simulation</a:t>
            </a:r>
          </a:p>
          <a:p>
            <a:pPr>
              <a:defRPr sz="1500">
                <a:solidFill>
                  <a:srgbClr val="111827"/>
                </a:solidFill>
              </a:defRPr>
            </a:pPr>
            <a:r>
              <a:t>Regularized host effect</a:t>
            </a:r>
          </a:p>
          <a:p>
            <a:pPr>
              <a:defRPr sz="1500">
                <a:solidFill>
                  <a:srgbClr val="111827"/>
                </a:solidFill>
              </a:defRPr>
            </a:pPr>
            <a:r>
              <a:t>Card/injury adjustment layer</a:t>
            </a:r>
          </a:p>
          <a:p>
            <a:pPr>
              <a:defRPr sz="1500">
                <a:solidFill>
                  <a:srgbClr val="111827"/>
                </a:solidFill>
              </a:defRPr>
            </a:pPr>
            <a:r>
              <a:t>100,000 tournament simulations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44E3B"/>
                </a:solidFill>
              </a:defRPr>
            </a:pPr>
            <a:r>
              <a:t>Stage probability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Uncertainty is tracked round-by-round.</a:t>
            </a:r>
          </a:p>
        </p:txBody>
      </p:sp>
      <p:pic>
        <p:nvPicPr>
          <p:cNvPr id="4" name="Picture 3" descr="stage_prob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51560"/>
            <a:ext cx="10149840" cy="8119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44E3B"/>
                </a:solidFill>
              </a:defRPr>
            </a:pPr>
            <a:r>
              <a:t>Dashboard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Rendered from local dashboard files and local SVG flag assets.</a:t>
            </a:r>
          </a:p>
        </p:txBody>
      </p:sp>
      <p:pic>
        <p:nvPicPr>
          <p:cNvPr id="4" name="Picture 3" descr="dashboar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7437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44E3B"/>
                </a:solidFill>
              </a:defRPr>
            </a:pPr>
            <a:r>
              <a:t>Expected knockout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Bracket-style reporting view.</a:t>
            </a:r>
          </a:p>
        </p:txBody>
      </p:sp>
      <p:pic>
        <p:nvPicPr>
          <p:cNvPr id="4" name="Picture 3" descr="expected_knockout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44E3B"/>
                </a:solidFill>
              </a:defRPr>
            </a:pPr>
            <a:r>
              <a:t>Bias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B5563"/>
                </a:solidFill>
              </a:defRPr>
            </a:pPr>
            <a:r>
              <a:t>Visual examples are layout references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4241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11827"/>
                </a:solidFill>
              </a:defRPr>
            </a:pPr>
            <a:r>
              <a:t>• No sample-image outcomes used as model input</a:t>
            </a:r>
          </a:p>
          <a:p>
            <a:pPr>
              <a:defRPr sz="2100">
                <a:solidFill>
                  <a:srgbClr val="111827"/>
                </a:solidFill>
              </a:defRPr>
            </a:pPr>
            <a:r>
              <a:t>• No finalist or champion manually forced</a:t>
            </a:r>
          </a:p>
          <a:p>
            <a:pPr>
              <a:defRPr sz="2100">
                <a:solidFill>
                  <a:srgbClr val="111827"/>
                </a:solidFill>
              </a:defRPr>
            </a:pPr>
            <a:r>
              <a:t>• Host advantage controlled and small</a:t>
            </a:r>
          </a:p>
          <a:p>
            <a:pPr>
              <a:defRPr sz="2100">
                <a:solidFill>
                  <a:srgbClr val="111827"/>
                </a:solidFill>
              </a:defRPr>
            </a:pPr>
            <a:r>
              <a:t>• Live results verified before inclusion</a:t>
            </a:r>
          </a:p>
          <a:p>
            <a:pPr>
              <a:defRPr sz="2100">
                <a:solidFill>
                  <a:srgbClr val="111827"/>
                </a:solidFill>
              </a:defRPr>
            </a:pPr>
            <a:r>
              <a:t>• Uncertainty reported with posterior and MC intervals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